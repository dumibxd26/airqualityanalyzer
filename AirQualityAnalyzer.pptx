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400" b="1">
                <a:solidFill>
                  <a:srgbClr val="EAF2FA"/>
                </a:solidFill>
                <a:latin typeface="Segoe UI"/>
              </a:rPr>
              <a:t>AirQualityAnalyzer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>
                <a:solidFill>
                  <a:srgbClr val="4DC4FF"/>
                </a:solidFill>
                <a:latin typeface="Segoe UI"/>
              </a:rPr>
              <a:t>Real-time global air-quality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9AABBE"/>
                </a:solidFill>
                <a:latin typeface="Segoe UI"/>
              </a:rPr>
              <a:t>OpenAQ  +  Open-Meteo   →   Kafka   →   Apache Flink   →   WebSocket   →   Live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Apache Kafka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5120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Apache Flink (PyFlink)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120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120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Leaflet + Chart.js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120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Docker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Streaming data pipeline · windowed analytics · alert escalation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Air-quality data is plentiful but rarely turned into actionable, live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Thousands of global sensors publish pollutant readings (pm25, pm10, no2, o3, so2, co).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Raw data is hourly, noisy, geographically scattered, and lacks weather context.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Operators need: live map, rolling averages, threshold alerts, escalation of sustained breaches.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Requires a fault-tolerant streaming backbone, not a polling REST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DC4FF"/>
                </a:solidFill>
                <a:latin typeface="Segoe UI"/>
              </a:rPr>
              <a:t>Project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Ingest two heterogeneous live sources concurrently.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Compute per-station, per-pollutant 1-minute averages.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Join weather context onto each window (interval join).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Raise alerts when averages cross WHO-style thresholds.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Escalate to CRITICAL when 3+ windows breach in 5 minutes.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Stream everything to a live dashboard via WebSocket.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AF2FA"/>
                </a:solidFill>
                <a:latin typeface="Segoe UI"/>
              </a:rPr>
              <a:t>•  End-to-end exactly-once delivery on Kafka sinks.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Five containerised services, one Kafka backbone, six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OpenAQ</a:t>
            </a:r>
          </a:p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Python</a:t>
            </a:r>
          </a:p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6 pollutants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Open-Meteo</a:t>
            </a:r>
          </a:p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producer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Python</a:t>
            </a:r>
          </a:p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weather poll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7A59"/>
                </a:solidFill>
                <a:latin typeface="Segoe UI"/>
              </a:rPr>
              <a:t>Apache</a:t>
            </a:r>
          </a:p>
          <a:p>
            <a:pPr algn="ctr"/>
            <a:r>
              <a:rPr sz="1400" b="1">
                <a:solidFill>
                  <a:srgbClr val="FF7A59"/>
                </a:solidFill>
                <a:latin typeface="Segoe UI"/>
              </a:rPr>
              <a:t>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5 topics</a:t>
            </a:r>
          </a:p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12 partitions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7A59"/>
                </a:solidFill>
                <a:latin typeface="Segoe UI"/>
              </a:rPr>
              <a:t>Apache</a:t>
            </a:r>
          </a:p>
          <a:p>
            <a:pPr algn="ctr"/>
            <a:r>
              <a:rPr sz="1400" b="1">
                <a:solidFill>
                  <a:srgbClr val="FF7A59"/>
                </a:solidFill>
                <a:latin typeface="Segoe UI"/>
              </a:rPr>
              <a:t>Flink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PyFlink Table API</a:t>
            </a:r>
          </a:p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8 slots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FastAPI</a:t>
            </a:r>
          </a:p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WebSocket bridge</a:t>
            </a:r>
          </a:p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aiokafka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377440"/>
            <a:ext cx="1737360" cy="128016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560320"/>
            <a:ext cx="1737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Dashboard</a:t>
            </a:r>
          </a:p>
          <a:p>
            <a:pPr algn="ctr"/>
            <a:r>
              <a:rPr sz="1400" b="1">
                <a:solidFill>
                  <a:srgbClr val="4DC4FF"/>
                </a:solidFill>
                <a:latin typeface="Segoe UI"/>
              </a:rPr>
              <a:t>(nginx)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9AABBE"/>
                </a:solidFill>
                <a:latin typeface="Segoe UI"/>
              </a:rPr>
              <a:t>Leaflet + Chart.js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3017520"/>
            <a:ext cx="182880" cy="0"/>
          </a:xfrm>
          <a:prstGeom prst="bentConnector3">
            <a:avLst/>
          </a:prstGeom>
          <a:ln w="2857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14800" y="3017520"/>
            <a:ext cx="182880" cy="0"/>
          </a:xfrm>
          <a:prstGeom prst="bentConnector3">
            <a:avLst/>
          </a:prstGeom>
          <a:ln w="2857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0" y="3017520"/>
            <a:ext cx="182880" cy="0"/>
          </a:xfrm>
          <a:prstGeom prst="bentConnector3">
            <a:avLst/>
          </a:prstGeom>
          <a:ln w="2857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55280" y="3017520"/>
            <a:ext cx="182880" cy="0"/>
          </a:xfrm>
          <a:prstGeom prst="bentConnector3">
            <a:avLst/>
          </a:prstGeom>
          <a:ln w="2857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75520" y="3017520"/>
            <a:ext cx="182880" cy="0"/>
          </a:xfrm>
          <a:prstGeom prst="bentConnector3">
            <a:avLst/>
          </a:prstGeom>
          <a:ln w="2857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DC4FF"/>
                </a:solidFill>
                <a:latin typeface="Segoe UI"/>
              </a:rPr>
              <a:t>Kafka topics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6177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817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AF2FA"/>
                </a:solidFill>
                <a:latin typeface="Segoe UI"/>
              </a:rPr>
              <a:t>raw-air-quality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56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12 part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6177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6817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AF2FA"/>
                </a:solidFill>
                <a:latin typeface="Segoe UI"/>
              </a:rPr>
              <a:t>weather-stream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956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12 part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46177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46817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AF2FA"/>
                </a:solidFill>
                <a:latin typeface="Segoe UI"/>
              </a:rPr>
              <a:t>enriched-readings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56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6 part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6177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6817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AF2FA"/>
                </a:solidFill>
                <a:latin typeface="Segoe UI"/>
              </a:rPr>
              <a:t>pollution-alerts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956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6 part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617720"/>
            <a:ext cx="2194560" cy="6400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46817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AF2FA"/>
                </a:solidFill>
                <a:latin typeface="Segoe UI"/>
              </a:rPr>
              <a:t>critical-alerts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956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3 part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Records are keyed by location → deterministic partitioning, in-order consumption per station.</a:t>
            </a:r>
          </a:p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Auto-topic-creation is disabled; topics are pre-created by a one-shot kafka-init container.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Processing pipeline — 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Two live sources → Kafka → Flink analytics → WebSocket →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0200" y="153162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DATA SOURCE
</a:t>
            </a:r>
            <a:r>
              <a:rPr sz="1200" b="1">
                <a:solidFill>
                  <a:srgbClr val="EAF2FA"/>
                </a:solidFill>
                <a:latin typeface="Segoe UI"/>
              </a:rPr>
              <a:t>OpenAQ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3162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DATA SOURCE
</a:t>
            </a:r>
            <a:r>
              <a:rPr sz="1200" b="1">
                <a:solidFill>
                  <a:srgbClr val="EAF2FA"/>
                </a:solidFill>
                <a:latin typeface="Segoe UI"/>
              </a:rPr>
              <a:t>Open-Meteo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17170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7A59"/>
                </a:solidFill>
                <a:latin typeface="Segoe UI"/>
              </a:rPr>
              <a:t>PYTHON PRODUCER
</a:t>
            </a:r>
            <a:r>
              <a:rPr sz="1200" b="1">
                <a:solidFill>
                  <a:srgbClr val="EAF2FA"/>
                </a:solidFill>
                <a:latin typeface="Segoe UI"/>
              </a:rPr>
              <a:t>producer.py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17170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7A59"/>
                </a:solidFill>
                <a:latin typeface="Segoe UI"/>
              </a:rPr>
              <a:t>PYTHON PRODUCER
</a:t>
            </a:r>
            <a:r>
              <a:rPr sz="1200" b="1">
                <a:solidFill>
                  <a:srgbClr val="EAF2FA"/>
                </a:solidFill>
                <a:latin typeface="Segoe UI"/>
              </a:rPr>
              <a:t>weather_producer.py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81178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KAFKA TOPIC · 12 part
</a:t>
            </a:r>
            <a:r>
              <a:rPr sz="1200" b="1">
                <a:solidFill>
                  <a:srgbClr val="EAF2FA"/>
                </a:solidFill>
                <a:latin typeface="Segoe UI"/>
              </a:rPr>
              <a:t>raw-air-quality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81178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KAFKA TOPIC · 12 part
</a:t>
            </a:r>
            <a:r>
              <a:rPr sz="1200" b="1">
                <a:solidFill>
                  <a:srgbClr val="EAF2FA"/>
                </a:solidFill>
                <a:latin typeface="Segoe UI"/>
              </a:rPr>
              <a:t>weather-stream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520440"/>
            <a:ext cx="8229600" cy="64008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7A59"/>
                </a:solidFill>
                <a:latin typeface="Segoe UI"/>
              </a:rPr>
              <a:t>STREAMING ANALYTICS
</a:t>
            </a:r>
            <a:r>
              <a:rPr sz="1200" b="1">
                <a:solidFill>
                  <a:srgbClr val="EAF2FA"/>
                </a:solidFill>
                <a:latin typeface="Segoe UI"/>
              </a:rPr>
              <a:t>Apache Flink  ·  1-min TUMBLE averages  ·  threshold check  ·  weather interval-join  ·  breach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66260"/>
            <a:ext cx="338328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9F43"/>
                </a:solidFill>
                <a:latin typeface="Segoe UI"/>
              </a:rPr>
              <a:t>KAFKA TOPIC · 6 part
</a:t>
            </a:r>
            <a:r>
              <a:rPr sz="1200" b="1">
                <a:solidFill>
                  <a:srgbClr val="EAF2FA"/>
                </a:solidFill>
                <a:latin typeface="Segoe UI"/>
              </a:rPr>
              <a:t>pollution-alerts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366260"/>
            <a:ext cx="338328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KAFKA TOPIC · 6 part
</a:t>
            </a:r>
            <a:r>
              <a:rPr sz="1200" b="1">
                <a:solidFill>
                  <a:srgbClr val="EAF2FA"/>
                </a:solidFill>
                <a:latin typeface="Segoe UI"/>
              </a:rPr>
              <a:t>enriched-readings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366260"/>
            <a:ext cx="338328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KAFKA TOPIC · 3 part
</a:t>
            </a:r>
            <a:r>
              <a:rPr sz="1200" b="1">
                <a:solidFill>
                  <a:srgbClr val="EAF2FA"/>
                </a:solidFill>
                <a:latin typeface="Segoe UI"/>
              </a:rPr>
              <a:t>critical-alerts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5097780"/>
            <a:ext cx="457200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4DC4FF"/>
                </a:solidFill>
                <a:latin typeface="Segoe UI"/>
              </a:rPr>
              <a:t>PYTHON SERVICE
</a:t>
            </a:r>
            <a:r>
              <a:rPr sz="1200" b="1">
                <a:solidFill>
                  <a:srgbClr val="EAF2FA"/>
                </a:solidFill>
                <a:latin typeface="Segoe UI"/>
              </a:rPr>
              <a:t>FastAPI backend  ·  aiokafka  ·  WebSocket bridge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5737860"/>
            <a:ext cx="4572000" cy="502920"/>
          </a:xfrm>
          <a:prstGeom prst="roundRect">
            <a:avLst>
              <a:gd name="adj" fmla="val 18000"/>
            </a:avLst>
          </a:prstGeom>
          <a:solidFill>
            <a:srgbClr val="121C2A"/>
          </a:solidFill>
          <a:ln w="1587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7A59"/>
                </a:solidFill>
                <a:latin typeface="Segoe UI"/>
              </a:rPr>
              <a:t>WEBSOCKET CLIENT
</a:t>
            </a:r>
            <a:r>
              <a:rPr sz="1200" b="1">
                <a:solidFill>
                  <a:srgbClr val="EAF2FA"/>
                </a:solidFill>
                <a:latin typeface="Segoe UI"/>
              </a:rPr>
              <a:t>Browser dashboard  ·  Leaflet + Chart.js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2034540.0"/>
            <a:ext cx="0" cy="137160.0"/>
          </a:xfrm>
          <a:prstGeom prst="bentConnector3">
            <a:avLst/>
          </a:prstGeom>
          <a:ln w="2222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2034540.0"/>
            <a:ext cx="0" cy="137160.0"/>
          </a:xfrm>
          <a:prstGeom prst="bentConnector3">
            <a:avLst/>
          </a:prstGeom>
          <a:ln w="2222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80" y="2674620.0"/>
            <a:ext cx="0" cy="137160.0"/>
          </a:xfrm>
          <a:prstGeom prst="bentConnector3">
            <a:avLst/>
          </a:prstGeom>
          <a:ln w="2222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26880" y="2674620.0"/>
            <a:ext cx="0" cy="137160.0"/>
          </a:xfrm>
          <a:prstGeom prst="bentConnector3">
            <a:avLst/>
          </a:prstGeom>
          <a:ln w="22225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251960.0" y="2423160"/>
            <a:ext cx="3749040.0" cy="640080"/>
          </a:xfrm>
          <a:prstGeom prst="bentConnector3">
            <a:avLst/>
          </a:prstGeom>
          <a:ln w="15875">
            <a:solidFill>
              <a:srgbClr val="9AABB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0" y="269748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Segoe UI"/>
              </a:rPr>
              <a:t>station discovery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80" y="3314700.0"/>
            <a:ext cx="914400" cy="205740.0"/>
          </a:xfrm>
          <a:prstGeom prst="bentConnector3">
            <a:avLst/>
          </a:prstGeom>
          <a:ln w="19050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412480" y="3314700.0"/>
            <a:ext cx="914400" cy="205740.0"/>
          </a:xfrm>
          <a:prstGeom prst="bentConnector3">
            <a:avLst/>
          </a:prstGeom>
          <a:ln w="19050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94560" y="4160520.0"/>
            <a:ext cx="1645920" cy="205740.0"/>
          </a:xfrm>
          <a:prstGeom prst="bentConnector3">
            <a:avLst/>
          </a:prstGeom>
          <a:ln w="19050">
            <a:solidFill>
              <a:srgbClr val="FF9F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26480" y="4160520.0"/>
            <a:ext cx="0" cy="205740.0"/>
          </a:xfrm>
          <a:prstGeom prst="bentConnector3">
            <a:avLst/>
          </a:prstGeom>
          <a:ln w="19050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12480" y="4160520.0"/>
            <a:ext cx="1645920" cy="205740.0"/>
          </a:xfrm>
          <a:prstGeom prst="bentConnector3">
            <a:avLst/>
          </a:prstGeom>
          <a:ln w="19050">
            <a:solidFill>
              <a:srgbClr val="E74C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94560" y="4869180.0"/>
            <a:ext cx="2286000" cy="228600.0"/>
          </a:xfrm>
          <a:prstGeom prst="bentConnector3">
            <a:avLst/>
          </a:prstGeom>
          <a:ln w="19050">
            <a:solidFill>
              <a:srgbClr val="FF9F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26480" y="4869180.0"/>
            <a:ext cx="0" cy="228600.0"/>
          </a:xfrm>
          <a:prstGeom prst="bentConnector3">
            <a:avLst/>
          </a:prstGeom>
          <a:ln w="19050">
            <a:solidFill>
              <a:srgbClr val="4DC4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772400" y="4869180.0"/>
            <a:ext cx="2286000" cy="228600.0"/>
          </a:xfrm>
          <a:prstGeom prst="bentConnector3">
            <a:avLst/>
          </a:prstGeom>
          <a:ln w="19050">
            <a:solidFill>
              <a:srgbClr val="E74C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26480" y="5600700.0"/>
            <a:ext cx="0" cy="137160.0"/>
          </a:xfrm>
          <a:prstGeom prst="bentConnector3">
            <a:avLst/>
          </a:prstGeom>
          <a:ln w="22225">
            <a:solidFill>
              <a:srgbClr val="FF7A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Heterogeneous live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Two concurrent producers, one shared partition key.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DC4FF"/>
                </a:solidFill>
                <a:latin typeface="Segoe UI"/>
              </a:rPr>
              <a:t>OpenAQ — air-quality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v3 REST API, /parameters/{id}/latest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6 pollutants polled concurrently (ThreadPoolExecutor)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Up to 200 stations per pollutant per poll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TTL-deduplicates by (station, parameter, event-time)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Drops readings older than MAX_AGE_HOURS (=6h default)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Rewrites Kafka record timestamp to ingest-time so Flink watermarks advance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Catches BufferError / KafkaTimeoutError (no silent crashes)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7A59"/>
                </a:solidFill>
                <a:latin typeface="Segoe UI"/>
              </a:rPr>
              <a:t>Open-Meteo — weather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Free, no-auth weather API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Discovers stations dynamically from the raw-air-quality topic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Polls each known station every 60 seconds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Publishes {location, temperature, wind_speed, humidity, timestamp}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Same `location` key → weather + readings co-partitioned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Enables an event-time INTERVAL JOIN in Flink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Flink analytics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Single PyFlink job, four sinks, one statement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9494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DC4FF"/>
                </a:solidFill>
                <a:latin typeface="Segoe UI"/>
              </a:rPr>
              <a:t>Logical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Source tables: RawAirQuality, Weather (Kafka JSON, event-time watermarks).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MinuteAggregates view — 1-min TUMBLE per (station, parameter): AVG(value), COUNT(*), MAX(lat/lon).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alerts_sql: filter windows whose avg exceeds WHO-style threshold per pollutant.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enriched_sql: stream-stream INTERVAL JOIN with Weather ±5 min on `location`.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critical_sql: TUMBLE 5-min over breach stream, HAVING COUNT(*) ≥ 3.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All sinks executed in one StatementSet → single Flink job, shared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737360"/>
            <a:ext cx="416052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7A59"/>
                </a:solidFill>
                <a:latin typeface="Segoe UI"/>
              </a:rPr>
              <a:t>Thresholds (µg/m³)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pm25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4320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pm10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no2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74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474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404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so2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8404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Segoe UI"/>
              </a:rPr>
              <a:t>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7A59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Severity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720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4C34B"/>
                </a:solidFill>
                <a:latin typeface="Segoe UI"/>
              </a:rPr>
              <a:t>MODERATE  &gt; 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9F43"/>
                </a:solidFill>
                <a:latin typeface="Segoe UI"/>
              </a:rPr>
              <a:t>HIGH      &gt; 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2064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Segoe UI"/>
              </a:rPr>
              <a:t>CRITICAL  &gt; 3×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FastAPI bridge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From Kafka to browser in milliseconds.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DC4FF"/>
                </a:solidFill>
                <a:latin typeface="Segoe UI"/>
              </a:rPr>
              <a:t>FastAPI WebSocket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4 background asyncio tasks (aiokafka consumers).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Fan-out via in-process broadcast() to every connected WebSocket.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Alert topics replay from `earliest` on each restart → fresh clients see history.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/snapshot REST endpoint hydrates the UI on first load.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Maintains in-memory STATIONS + RECENT_ALERTS / CRITICAL buffers.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7A59"/>
                </a:solidFill>
                <a:latin typeface="Segoe UI"/>
              </a:rPr>
              <a:t>Dashboard (vanilla JS + Leaflet + Chart.js)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Glassmorphism dark UI, dark Carto map tiles.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6 live stat cards refresh every 1 s (rate, total, last-age, alerts, criticals).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Map dots colored by Flink-windowed averages → agree with alert thresholds.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Per-parameter rolling chart, 5-second aggregation buckets.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AF2FA"/>
                </a:solidFill>
                <a:latin typeface="Segoe UI"/>
              </a:rPr>
              <a:t>•  Toasts for critical episodes; per-parameter TTL fades dots back to green.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Reliability &amp;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Production-flavoured guarantees, not just a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Exactly-once sinks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5564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All 3 Kafka sinks: sink.delivery-guarantee=exactly-once, unique transactional-id-prefix, 15-min tx timeout. Paired with Flink CheckpointingMode.EXACTLY_ONCE every 30 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Event-time watermarks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3288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Producer rewrites record timestamp to ingest-time → watermark advances reliably even when source data is hours-old.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Deduplication w/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1012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Producer dedupes by (location, parameter, event_time) for 90 s, then republishes → prevents the 1190×/min firehose while keeping windows fed.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8736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Stale-data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08736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Drops readings older than MAX_AGE_HOURS (=6 h) — OpenAQ /latest returns multi-year-old values from defunct stations.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0060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Parallel + partitioned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86460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12 partitions on hot topics, parallelism.default=4, 2 TaskManagers × 4 slots; records keyed by location → per-station ordering.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4184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DC4FF"/>
                </a:solidFill>
                <a:latin typeface="Segoe UI"/>
              </a:rPr>
              <a:t>Bounded back-pressure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641848"/>
            <a:ext cx="7589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Producer uses max_block_ms=5 s and catches BufferError/KafkaTimeoutError → broker hiccups don't crash ingest.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Bug audit — 8 fixes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Empirical audit via kafka-console-consumer + Flink job inspection.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47120" cy="4114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Segoe UI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55648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Segoe UI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55648"/>
            <a:ext cx="5669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Segoe UI"/>
              </a:rPr>
              <a:t>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6771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Stale OpenAQ timestamps (years old)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6771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Producer drops records &gt;MAX_AGE_HOURS; rewrites Kafka ts to ingest-time.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974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7063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Same readings re-published every 15 s (×1190)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7063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(location, parameter, event_time) dedup table with TTL.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7355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7355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UI severity color ≠ Flink alert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7355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Map driven by enriched-readings window AVG (source='enriched').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7647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7647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HOP window emits 5× duplicate criticals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77647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Replaced HOP(1m,5m) with TUMBLE 5m — one row per episode.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7939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7939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Map dots never decay back to 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27939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Per-param TTL (10 min) + periodic 30 s redraw.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78231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8231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Producer queue unbounded → OOM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78231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max_block_ms=5 s + try/except on send/flush.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2120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#8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28523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Half-configured exactly-once on sinks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28523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delivery-guarantee=exactly-once + unique tx-id-prefix per sink.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71500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0B121A"/>
          </a:solidFill>
          <a:ln w="9525">
            <a:solidFill>
              <a:srgbClr val="9AA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8815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Segoe UI"/>
              </a:rPr>
              <a:t>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Segoe UI"/>
              </a:rPr>
              <a:t>Stats card stuck at '0 readings/min'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788152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Extended to 6 cards: /min, /s, total, last-age, worst severity, Flink windows/min.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Live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Measured against a single dev laptop · Docker Desktop.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~80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readings / minute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raw-air-quality steady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260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active 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918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after MAX_AGE_HOURS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partitions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918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on raw-air-quality · 4-way parallel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Flink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2 TM × 4 slots, parallelism=4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0690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29768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30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checkpoint interval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5321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exactly-once Kafka sinks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690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297680"/>
            <a:ext cx="3657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600" b="1">
                <a:solidFill>
                  <a:srgbClr val="4DC4FF"/>
                </a:solidFill>
                <a:latin typeface="Segoe UI"/>
              </a:rPr>
              <a:t>&lt;200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1663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F2FA"/>
                </a:solidFill>
                <a:latin typeface="Segoe UI"/>
              </a:rPr>
              <a:t>Kafka → browser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321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9AABBE"/>
                </a:solidFill>
                <a:latin typeface="Segoe UI"/>
              </a:rPr>
              <a:t>end-to-end on localhost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Live demo — what to look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5-minute guided tour of the running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5564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Open http://localhost:8080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5564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Dashboard hydrates from /snapshot REST: stations + historical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62432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3288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Watch the stats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3288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Readings/min climbs to ~80, last-event age stays under 15 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40156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1012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Map fills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1012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Dots colored by Flink window AVG — first dots appear ~60 s after start.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17880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8736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Trigger an alert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8736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Switch the chart to PM2.5; locations above threshold start flashing in the alerts list.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0060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95604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6460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Critical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86460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After ≥3 consecutive breaching minutes a red toast pops up: CRITICAL Station-X.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778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5733288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0B121A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41848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F2FA"/>
                </a:solidFill>
                <a:latin typeface="Segoe UI"/>
              </a:rPr>
              <a:t>Flink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641848"/>
            <a:ext cx="6766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Segoe UI"/>
              </a:rPr>
              <a:t>Visit http://localhost:8081 → see the running job, the operator graph, checkpoints.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Code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Everything lives in one Compose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4D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DC4FF"/>
                </a:solidFill>
                <a:latin typeface="Segoe UI"/>
              </a:rPr>
              <a:t>Repository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producer.py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OpenAQ →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weather_producer.py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Open-Meteo →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flink_processor.py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PyFlink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backend/main.py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FastAPI + 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frontend/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4048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HTML/CSS/JS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docker-compose.yml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2062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9 services, 1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Dockerfile.flink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5720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Flink + JDK + PyFlink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7A59"/>
                </a:solidFill>
                <a:latin typeface="Consolas"/>
              </a:rPr>
              <a:t>jars/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3776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AABBE"/>
                </a:solidFill>
                <a:latin typeface="Segoe UI"/>
              </a:rPr>
              <a:t>kafka-sql-connector (bind-mount)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73736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1C2A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7A59"/>
                </a:solidFill>
                <a:latin typeface="Segoe UI"/>
              </a:rPr>
              <a:t>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7744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Apache Kafka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37744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7.4.0 (Confluent)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7004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Apache Flink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670048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1.20.1 (custom image)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62656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PyFlink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962656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1.20.1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25526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kafka-connector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5526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3.3.0-1.20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478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47872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0.115.0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8404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aiokafka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84048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0.11.0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3308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kafka-python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133088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2.0.2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25696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Python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425696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3.11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718304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Leaflet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718304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1.9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01091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AF2FA"/>
                </a:solidFill>
                <a:latin typeface="Segoe UI"/>
              </a:rPr>
              <a:t>Chart.js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010912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DC4FF"/>
                </a:solidFill>
                <a:latin typeface="Consolas"/>
              </a:rPr>
              <a:t>4.4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EAF2FA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9AABBE"/>
                </a:solidFill>
                <a:latin typeface="Segoe UI"/>
              </a:rPr>
              <a:t>Natural extensions if this becomes a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2700"/>
          </a:xfrm>
          <a:prstGeom prst="rect">
            <a:avLst/>
          </a:prstGeom>
          <a:solidFill>
            <a:srgbClr val="4D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Persistent storage: sink enriched-readings + alerts to ClickHouse / TimescaleDB for historical analytics.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Schema registry (Avro/Protobuf) instead of free-form JSON, with schema evolution checks.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Geo-spatial joins: cluster nearby stations, compute city-level AQI, render heatmaps in the UI.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Notification fan-out: subscribe-by-email/SMS/webhook for critical episodes per region.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Production hardening: Kubernetes, KRaft Kafka, JobManager HA, Prometheus/Grafana observability.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ML layer: short-horizon forecasting per station (ARIMA / temporal-fusion-transformer).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AF2FA"/>
                </a:solidFill>
                <a:latin typeface="Segoe UI"/>
              </a:rPr>
              <a:t>•  Multi-tenant API key model on the WebSocket bridge.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9AABB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400" b="1">
                <a:solidFill>
                  <a:srgbClr val="EAF2FA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4DC4FF"/>
                </a:solidFill>
                <a:latin typeface="Segoe UI"/>
              </a:rPr>
              <a:t>Questions · discussion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9AABBE"/>
                </a:solidFill>
                <a:latin typeface="Segoe UI"/>
              </a:rPr>
              <a:t>AirQualityAnalyzer  ·  Kafka → Flink → WebSocket → Browser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